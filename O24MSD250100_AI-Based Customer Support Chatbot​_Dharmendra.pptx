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D4E9A8-1CA5-216C-9BC8-5B407923818A}" v="229" dt="2026-06-20T16:39:08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D200B3F0-A9BC-48CE-8EB6-ECE965069900}" type="datetimeFigureOut">
              <a:rPr lang="en-US" dirty="0"/>
              <a:pPr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514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712A-F861-4AB0-A754-4F5A2033CD4B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843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07B7-F2DC-4B2C-B14D-58A9766807A2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38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A483D-5CB4-4842-8F2F-05D5276ACF63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155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CE32E-9DC0-47C8-A657-48F5C3E4A10B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414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5C0D-8C3A-4771-A43D-83937FC700D4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630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3D2D6-FCC2-425A-A4A7-8058E8C01CB1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515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2683-E6E7-4CC3-9EEE-7854DD4F354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70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20F81-B39D-4CBB-8BF3-5D6E395D0F72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855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FFFF-3106-4DDB-AA62-0C80862170D6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25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38B7-AE95-4DC8-9A51-7A71F545B098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0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EC2B-8188-4AC2-9F0D-8D09C51D505A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263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B75E-944F-430B-BE5F-C69FA8823C04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422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0DC7-7F53-471C-A711-B3DA6F2535F3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887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4C9D-4618-451D-80C1-6A376BB42AB4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899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2318-CE40-42F6-962A-4C6D6CF697DB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392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6AC1-EB7F-4BEF-90D9-5764B50DAF8A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120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64B320A-89BA-47B2-A525-92E8D10B06E4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303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3538DF-ADB7-425A-A2ED-7B2BD87B9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0245" y="1311012"/>
            <a:ext cx="8761413" cy="467480"/>
          </a:xfrm>
        </p:spPr>
        <p:txBody>
          <a:bodyPr/>
          <a:lstStyle/>
          <a:p>
            <a:r>
              <a:rPr lang="en-US">
                <a:solidFill>
                  <a:srgbClr val="F3F4F6"/>
                </a:solidFill>
                <a:ea typeface="+mj-lt"/>
                <a:cs typeface="+mj-lt"/>
              </a:rPr>
              <a:t>AI-Based Customer Support Chatbot</a:t>
            </a:r>
            <a:endParaRPr lang="en-US"/>
          </a:p>
          <a:p>
            <a:r>
              <a:rPr lang="en-US" b="1"/>
              <a:t>(A </a:t>
            </a:r>
            <a:r>
              <a:rPr lang="en-US" b="1" dirty="0"/>
              <a:t>Smart Healthcare Solution)</a:t>
            </a:r>
            <a:br>
              <a:rPr lang="en-IN" dirty="0"/>
            </a:br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A27417-0D24-42B1-A7DE-A6E8C51C9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4238" y="3796887"/>
            <a:ext cx="5005634" cy="2478160"/>
          </a:xfrm>
        </p:spPr>
        <p:txBody>
          <a:bodyPr>
            <a:normAutofit fontScale="85000" lnSpcReduction="20000"/>
          </a:bodyPr>
          <a:lstStyle/>
          <a:p>
            <a:pPr marL="0" indent="0" algn="r">
              <a:buNone/>
            </a:pPr>
            <a:endParaRPr lang="en-US" b="1" dirty="0"/>
          </a:p>
          <a:p>
            <a:pPr marL="0" indent="0" algn="r">
              <a:buNone/>
            </a:pPr>
            <a:endParaRPr lang="en-US" b="1" dirty="0"/>
          </a:p>
          <a:p>
            <a:pPr marL="0" indent="0" algn="r">
              <a:buNone/>
            </a:pPr>
            <a:endParaRPr lang="en-US" b="1" dirty="0"/>
          </a:p>
          <a:p>
            <a:pPr marL="0" indent="0" algn="r">
              <a:buNone/>
            </a:pPr>
            <a:r>
              <a:rPr lang="en-US" b="1" dirty="0"/>
              <a:t>by</a:t>
            </a:r>
            <a:endParaRPr lang="en-IN" dirty="0"/>
          </a:p>
          <a:p>
            <a:pPr marL="0" indent="0" algn="r">
              <a:buNone/>
            </a:pPr>
            <a:r>
              <a:rPr lang="en-US" b="1" dirty="0"/>
              <a:t>Dharmendra Kumar Nayak</a:t>
            </a:r>
            <a:endParaRPr lang="en-IN" dirty="0"/>
          </a:p>
          <a:p>
            <a:pPr marL="0" indent="0" algn="r">
              <a:buNone/>
            </a:pPr>
            <a:r>
              <a:rPr lang="en-US" b="1" dirty="0"/>
              <a:t>(UNIVERSITY ID O24MSD250100)</a:t>
            </a:r>
            <a:endParaRPr lang="en-IN" dirty="0"/>
          </a:p>
          <a:p>
            <a:pPr marL="0" indent="0" algn="r">
              <a:buNone/>
            </a:pPr>
            <a:r>
              <a:rPr lang="en-US" b="1" dirty="0"/>
              <a:t>Master of Science</a:t>
            </a:r>
            <a:r>
              <a:rPr lang="en-US" dirty="0"/>
              <a:t> (Hons.)</a:t>
            </a:r>
            <a:r>
              <a:rPr lang="en-IN" dirty="0"/>
              <a:t> </a:t>
            </a:r>
            <a:r>
              <a:rPr lang="en-US" dirty="0"/>
              <a:t>in</a:t>
            </a:r>
            <a:r>
              <a:rPr lang="en-IN" dirty="0"/>
              <a:t> </a:t>
            </a:r>
            <a:r>
              <a:rPr lang="en-US" b="1" dirty="0"/>
              <a:t>Data Science</a:t>
            </a:r>
            <a:br>
              <a:rPr lang="en-US" b="1" dirty="0"/>
            </a:br>
            <a:r>
              <a:rPr lang="en-US" dirty="0"/>
              <a:t>Chandigarh University</a:t>
            </a:r>
            <a:endParaRPr lang="en-IN" dirty="0"/>
          </a:p>
          <a:p>
            <a:pPr marL="0" indent="0" algn="r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9526FC-E2D8-47C5-B747-5A8C6B94C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21" y="2398182"/>
            <a:ext cx="2511204" cy="896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90A44F1-CDE0-4EEE-BEAD-FFFF4F91E7EE}"/>
              </a:ext>
            </a:extLst>
          </p:cNvPr>
          <p:cNvSpPr/>
          <p:nvPr/>
        </p:nvSpPr>
        <p:spPr>
          <a:xfrm>
            <a:off x="4238845" y="2844700"/>
            <a:ext cx="4440023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AI-Based Customer Support Chatbot </a:t>
            </a:r>
            <a:r>
              <a:rPr lang="en-US" sz="2800" b="1">
                <a:latin typeface="Arial"/>
                <a:ea typeface="Calibri"/>
                <a:cs typeface="Arial"/>
              </a:rPr>
              <a:t>is the idea that aims </a:t>
            </a:r>
            <a:r>
              <a:rPr lang="en-US" sz="2800" b="1" dirty="0">
                <a:latin typeface="Arial"/>
                <a:ea typeface="Calibri"/>
                <a:cs typeface="Arial"/>
              </a:rPr>
              <a:t>at solving Healthcare collaboration problems. </a:t>
            </a:r>
            <a:endParaRPr lang="en-IN" sz="2800" b="1">
              <a:latin typeface="Century Gothic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939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9526FC-E2D8-47C5-B747-5A8C6B94C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485" y="484645"/>
            <a:ext cx="2048865" cy="731413"/>
          </a:xfrm>
          <a:prstGeom prst="rect">
            <a:avLst/>
          </a:prstGeom>
        </p:spPr>
      </p:pic>
      <p:pic>
        <p:nvPicPr>
          <p:cNvPr id="6" name="Picture 6" descr="AI symposium main.jpg (850×567)">
            <a:extLst>
              <a:ext uri="{FF2B5EF4-FFF2-40B4-BE49-F238E27FC236}">
                <a16:creationId xmlns:a16="http://schemas.microsoft.com/office/drawing/2014/main" id="{68AE1FFC-A39D-4C72-AC62-DA57BC356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023" y="1972142"/>
            <a:ext cx="4914992" cy="3278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01957B9D-082A-4F46-B37D-336217CAE7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52175" y="2394516"/>
            <a:ext cx="481221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 hangingPunct="0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AI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n-US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Chat has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revolutionized every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industry, including healthcare.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Healthcare is vast and complex — made up of multiple independent entities.</a:t>
            </a:r>
          </a:p>
          <a:p>
            <a:pPr marL="285750" indent="-285750" defTabSz="914400" eaLnBrk="0" fontAlgn="base" hangingPunct="0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Lack of integration causes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delays, and inefficiency.</a:t>
            </a:r>
            <a:endParaRPr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D3E3DA-21B8-4B24-A338-BF3D4A65D780}"/>
              </a:ext>
            </a:extLst>
          </p:cNvPr>
          <p:cNvSpPr txBox="1"/>
          <p:nvPr/>
        </p:nvSpPr>
        <p:spPr>
          <a:xfrm>
            <a:off x="1150069" y="1376312"/>
            <a:ext cx="2846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en-I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39450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3ECE-08E5-47BC-85E7-B5724BC1B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2388396"/>
            <a:ext cx="4351025" cy="2283824"/>
          </a:xfrm>
        </p:spPr>
        <p:txBody>
          <a:bodyPr/>
          <a:lstStyle/>
          <a:p>
            <a:r>
              <a:rPr lang="en-GB" dirty="0"/>
              <a:t>What is </a:t>
            </a:r>
            <a:r>
              <a:rPr lang="en-GB" dirty="0">
                <a:ea typeface="+mj-lt"/>
                <a:cs typeface="+mj-lt"/>
              </a:rPr>
              <a:t>AI-Based Customer Support </a:t>
            </a:r>
            <a:r>
              <a:rPr lang="en-GB">
                <a:ea typeface="+mj-lt"/>
                <a:cs typeface="+mj-lt"/>
              </a:rPr>
              <a:t>Chatbot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EA8F10-FDB2-4BDA-A10C-8F408F5CEF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10718" y="1945259"/>
            <a:ext cx="458307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A </a:t>
            </a:r>
            <a:r>
              <a:rPr lang="en-US" altLang="en-US" cap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smart AI web-based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n-US" altLang="en-US" cap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chat platform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connecting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all healthcare stakeholders:</a:t>
            </a:r>
            <a:br>
              <a:rPr lang="en-US" altLang="en-US" b="0" i="0" u="none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🏥 doctors | 👩‍⚕️ patients | 🔬 researchers | 💊 pharmacists | 🏛 government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Enables sharing, collaboration, and data-driven decision-making.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Bridges the communication gap and improves healthcare outcomes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ACA452-BEF3-4E2E-86E1-D82243D3A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485" y="484645"/>
            <a:ext cx="2048865" cy="73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341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7771-BA24-45DC-9704-6A05CB61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808" y="2287088"/>
            <a:ext cx="4351025" cy="2283824"/>
          </a:xfrm>
        </p:spPr>
        <p:txBody>
          <a:bodyPr/>
          <a:lstStyle/>
          <a:p>
            <a:r>
              <a:rPr lang="en-IN" dirty="0"/>
              <a:t>Purpose of the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309DFA-80DD-42BB-A59C-88C14BD2B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98762" y="2027117"/>
            <a:ext cx="521974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integrate </a:t>
            </a:r>
            <a:r>
              <a:rPr lang="en-US" altLang="en-US" b="1" cap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SMART CHAT healthcare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components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: doctors, patients, researchers, insurers, pharma.</a:t>
            </a:r>
          </a:p>
          <a:p>
            <a:pPr marL="0" marR="0" lvl="0" indent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Build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collaborative cloud platform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for data sharing &amp; analytics.</a:t>
            </a:r>
          </a:p>
          <a:p>
            <a:pPr marL="0" marR="0" lvl="0" indent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Solve key issues: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lang="en-US" cap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Improve customer satisfaction through instant response times.</a:t>
            </a:r>
            <a:endParaRPr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/>
            </a:endParaRPr>
          </a:p>
          <a:p>
            <a:pPr marL="0" marR="0" lvl="0" indent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Enable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real-time collaboration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for evidence-based healthcare.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BA44B5-8B19-4326-AE47-F2E291BB2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485" y="484645"/>
            <a:ext cx="2048865" cy="73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167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7771-BA24-45DC-9704-6A05CB61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808" y="2287088"/>
            <a:ext cx="4351025" cy="2283824"/>
          </a:xfrm>
        </p:spPr>
        <p:txBody>
          <a:bodyPr/>
          <a:lstStyle/>
          <a:p>
            <a:r>
              <a:rPr lang="en-IN" dirty="0"/>
              <a:t>Target Audience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1F54594E-D749-4D9E-A2D2-6222200C9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98283" y="2059004"/>
            <a:ext cx="478736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Patients: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Share medical history, access care anytime.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Doctors &amp; Clinicians: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Access records instantly; collaborate globally.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Researchers: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Use real-world anonymized data for studies.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Pharmaceuticals: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Analyze disease trends for R&amp;D.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Healthcare &amp; Insurance Organizations: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Use analytics for better policies &amp; planning.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AF341-AD8D-4B29-BF15-0C80C99DE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485" y="484645"/>
            <a:ext cx="2048865" cy="73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361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7771-BA24-45DC-9704-6A05CB61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808" y="2287088"/>
            <a:ext cx="4351025" cy="2283824"/>
          </a:xfrm>
        </p:spPr>
        <p:txBody>
          <a:bodyPr/>
          <a:lstStyle/>
          <a:p>
            <a:r>
              <a:rPr lang="en-IN" dirty="0"/>
              <a:t>Functionality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309DFA-80DD-42BB-A59C-88C14BD2B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98762" y="2078413"/>
            <a:ext cx="5219742" cy="3067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b="1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Core functions:</a:t>
            </a:r>
            <a:endParaRPr lang="en-GB" cap="none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Patient registration &amp; health record entry.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Controlled record sharing (with authorization).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Doctor–researcher collaboration.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Access control &amp; expertise sharing.</a:t>
            </a:r>
            <a:br>
              <a:rPr lang="en-GB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1" cap="none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Enhanced features:</a:t>
            </a:r>
            <a:endParaRPr lang="en-GB" cap="none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AF341-AD8D-4B29-BF15-0C80C99DE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485" y="484645"/>
            <a:ext cx="2048865" cy="73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43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7771-BA24-45DC-9704-6A05CB61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808" y="2287088"/>
            <a:ext cx="4351025" cy="2283824"/>
          </a:xfrm>
        </p:spPr>
        <p:txBody>
          <a:bodyPr/>
          <a:lstStyle/>
          <a:p>
            <a:r>
              <a:rPr lang="en-IN" dirty="0"/>
              <a:t>Technical Architecture </a:t>
            </a:r>
            <a:r>
              <a:rPr lang="en-IN"/>
              <a:t>(react python)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309DFA-80DD-42BB-A59C-88C14BD2B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98762" y="1873229"/>
            <a:ext cx="521974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>
                <a:solidFill>
                  <a:schemeClr val="tx1"/>
                </a:solidFill>
                <a:latin typeface="Arial"/>
                <a:cs typeface="Arial"/>
              </a:rPr>
              <a:t>REACT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Tier: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>
                <a:solidFill>
                  <a:schemeClr val="tx1"/>
                </a:solidFill>
                <a:latin typeface="Arial"/>
                <a:cs typeface="Arial"/>
              </a:rPr>
              <a:t>User interface (REACT web apps).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Middle Tier: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Arial"/>
                <a:cs typeface="Arial"/>
              </a:rPr>
              <a:t>Business logic layer (Enterprise Beans, </a:t>
            </a:r>
            <a:r>
              <a:rPr lang="en-IN">
                <a:solidFill>
                  <a:schemeClr val="tx1"/>
                </a:solidFill>
                <a:latin typeface="Arial"/>
                <a:cs typeface="Arial"/>
              </a:rPr>
              <a:t>Web Services, PYTHON).</a:t>
            </a:r>
            <a:endParaRPr lang="en-IN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Tier: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for secure, persistent storage.</a:t>
            </a:r>
            <a:b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Stack: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AF341-AD8D-4B29-BF15-0C80C99DE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485" y="484645"/>
            <a:ext cx="2048865" cy="73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51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7771-BA24-45DC-9704-6A05CB61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808" y="2287088"/>
            <a:ext cx="4351025" cy="2283824"/>
          </a:xfrm>
        </p:spPr>
        <p:txBody>
          <a:bodyPr/>
          <a:lstStyle/>
          <a:p>
            <a:r>
              <a:rPr lang="en-GB" dirty="0"/>
              <a:t>Application Screen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AF341-AD8D-4B29-BF15-0C80C99DE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485" y="484645"/>
            <a:ext cx="2048865" cy="7314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A2AC91-5DF4-3B05-05F9-BBF6A765A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907" y="1335314"/>
            <a:ext cx="7996814" cy="45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056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7771-BA24-45DC-9704-6A05CB61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808" y="2287088"/>
            <a:ext cx="4351025" cy="2283824"/>
          </a:xfrm>
        </p:spPr>
        <p:txBody>
          <a:bodyPr/>
          <a:lstStyle/>
          <a:p>
            <a:r>
              <a:rPr lang="en-IN" dirty="0"/>
              <a:t>Research Methods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309DFA-80DD-42BB-A59C-88C14BD2B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98762" y="1334621"/>
            <a:ext cx="5219742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Primary Research:</a:t>
            </a:r>
            <a:endParaRPr lang="en-IN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Interviews &amp; Questionnaires</a:t>
            </a:r>
            <a:endParaRPr lang="en-IN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Subjects: Healthcare professionals, researchers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Objectives: Understand daily issues, record usage, collaboration needs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Secondary Research:</a:t>
            </a:r>
            <a:endParaRPr lang="en-IN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Academic journals, whitepapers, IBM &amp; PwC healthcare reports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Technical references: Oracle, </a:t>
            </a:r>
            <a:r>
              <a:rPr lang="en-IN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rEACT</a:t>
            </a:r>
            <a:r>
              <a:rPr lang="en-I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frameworks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AF341-AD8D-4B29-BF15-0C80C99DE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485" y="484645"/>
            <a:ext cx="2048865" cy="73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79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7771-BA24-45DC-9704-6A05CB61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808" y="2287088"/>
            <a:ext cx="4351025" cy="2283824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766CB83-8264-40C1-BB89-72F3C53DDB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17539" y="2010250"/>
            <a:ext cx="567446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Existing healthcare systems lack integration &amp; collaboration.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AI-Based  Customer Support Chatbot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connects all healthcare stakeholders.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Benefits: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24×7 record access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Evidence-based decisions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Reduced costs &amp; improved outcomes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Future Scope: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AI analytics, remote diagnosis, global data interoperability.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AF341-AD8D-4B29-BF15-0C80C99DE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485" y="484645"/>
            <a:ext cx="2048865" cy="73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11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83B3-E41E-4DD6-8152-C29650B5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</a:t>
            </a:r>
            <a:endParaRPr lang="en-IN" dirty="0"/>
          </a:p>
        </p:txBody>
      </p:sp>
      <p:pic>
        <p:nvPicPr>
          <p:cNvPr id="10242" name="Picture 2" descr="images (225×225)">
            <a:extLst>
              <a:ext uri="{FF2B5EF4-FFF2-40B4-BE49-F238E27FC236}">
                <a16:creationId xmlns:a16="http://schemas.microsoft.com/office/drawing/2014/main" id="{220A7F9B-87ED-49ED-B119-74ADD5E22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006" y="1651696"/>
            <a:ext cx="3384271" cy="3384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5B1477-395A-4F59-A939-B7A656BA2E2C}"/>
              </a:ext>
            </a:extLst>
          </p:cNvPr>
          <p:cNvSpPr txBox="1">
            <a:spLocks/>
          </p:cNvSpPr>
          <p:nvPr/>
        </p:nvSpPr>
        <p:spPr>
          <a:xfrm>
            <a:off x="6344238" y="3796887"/>
            <a:ext cx="5005634" cy="24781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b="1" dirty="0">
              <a:solidFill>
                <a:schemeClr val="tx1"/>
              </a:solidFill>
            </a:endParaRPr>
          </a:p>
          <a:p>
            <a:pPr algn="r"/>
            <a:endParaRPr lang="en-US" b="1" dirty="0">
              <a:solidFill>
                <a:schemeClr val="tx1"/>
              </a:solidFill>
            </a:endParaRPr>
          </a:p>
          <a:p>
            <a:pPr algn="r"/>
            <a:endParaRPr lang="en-US" b="1" dirty="0">
              <a:solidFill>
                <a:schemeClr val="tx1"/>
              </a:solidFill>
            </a:endParaRPr>
          </a:p>
          <a:p>
            <a:pPr algn="r"/>
            <a:r>
              <a:rPr lang="en-US" b="1" dirty="0">
                <a:solidFill>
                  <a:schemeClr val="tx1"/>
                </a:solidFill>
              </a:rPr>
              <a:t>by</a:t>
            </a:r>
            <a:endParaRPr lang="en-IN" dirty="0">
              <a:solidFill>
                <a:schemeClr val="tx1"/>
              </a:solidFill>
            </a:endParaRPr>
          </a:p>
          <a:p>
            <a:pPr algn="r"/>
            <a:r>
              <a:rPr lang="en-US" b="1" dirty="0">
                <a:solidFill>
                  <a:schemeClr val="tx1"/>
                </a:solidFill>
              </a:rPr>
              <a:t>Dharmendra Kumar Nayak</a:t>
            </a:r>
            <a:endParaRPr lang="en-IN" dirty="0">
              <a:solidFill>
                <a:schemeClr val="tx1"/>
              </a:solidFill>
            </a:endParaRPr>
          </a:p>
          <a:p>
            <a:pPr algn="r"/>
            <a:r>
              <a:rPr lang="en-US" b="1" dirty="0">
                <a:solidFill>
                  <a:schemeClr val="tx1"/>
                </a:solidFill>
              </a:rPr>
              <a:t>(UNIVERSITY ID O24MSD250100)</a:t>
            </a:r>
            <a:endParaRPr lang="en-IN" dirty="0">
              <a:solidFill>
                <a:schemeClr val="tx1"/>
              </a:solidFill>
            </a:endParaRPr>
          </a:p>
          <a:p>
            <a:pPr algn="r"/>
            <a:r>
              <a:rPr lang="en-US" b="1" dirty="0">
                <a:solidFill>
                  <a:schemeClr val="tx1"/>
                </a:solidFill>
              </a:rPr>
              <a:t>Master of Science</a:t>
            </a:r>
            <a:r>
              <a:rPr lang="en-US" dirty="0">
                <a:solidFill>
                  <a:schemeClr val="tx1"/>
                </a:solidFill>
              </a:rPr>
              <a:t> (Hons.)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in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Data Science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Chandigarh University</a:t>
            </a:r>
            <a:endParaRPr lang="en-IN" dirty="0">
              <a:solidFill>
                <a:schemeClr val="tx1"/>
              </a:solidFill>
            </a:endParaRPr>
          </a:p>
          <a:p>
            <a:pPr algn="r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4191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77</TotalTime>
  <Words>428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Ion Boardroom</vt:lpstr>
      <vt:lpstr>AI-Based Customer Support Chatbot (A Smart Healthcare Solution) </vt:lpstr>
      <vt:lpstr>AI Chat has revolutionized every industry, including healthcare. Healthcare is vast and complex — made up of multiple independent entities. Lack of integration causes delays, and inefficiency.</vt:lpstr>
      <vt:lpstr>What is AI-Based Customer Support Chatbot</vt:lpstr>
      <vt:lpstr>Purpose of the System</vt:lpstr>
      <vt:lpstr>Target Audience</vt:lpstr>
      <vt:lpstr>Functionality</vt:lpstr>
      <vt:lpstr>Technical Architecture (react python)</vt:lpstr>
      <vt:lpstr>Application Screen</vt:lpstr>
      <vt:lpstr>Research Methods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sweta</dc:creator>
  <cp:lastModifiedBy>sweta</cp:lastModifiedBy>
  <cp:revision>68</cp:revision>
  <dcterms:created xsi:type="dcterms:W3CDTF">2025-10-31T14:35:11Z</dcterms:created>
  <dcterms:modified xsi:type="dcterms:W3CDTF">2026-06-20T16:39:26Z</dcterms:modified>
</cp:coreProperties>
</file>